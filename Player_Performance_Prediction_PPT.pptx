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F1F5F9"/>
                </a:solidFill>
                <a:latin typeface="Calibri"/>
              </a:rPr>
              <a:t>Standardized coefficients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74B9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Batting_Average</c:v>
                </c:pt>
                <c:pt idx="1">
                  <c:v>Fifties</c:v>
                </c:pt>
                <c:pt idx="2">
                  <c:v>Strike_Rate</c:v>
                </c:pt>
                <c:pt idx="3">
                  <c:v>Runs</c:v>
                </c:pt>
                <c:pt idx="4">
                  <c:v>Hundreds</c:v>
                </c:pt>
                <c:pt idx="5">
                  <c:v>Wickets</c:v>
                </c:pt>
                <c:pt idx="6">
                  <c:v>Matches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10.08</c:v>
                </c:pt>
                <c:pt idx="1">
                  <c:v>7.35</c:v>
                </c:pt>
                <c:pt idx="2">
                  <c:v>6.53</c:v>
                </c:pt>
                <c:pt idx="3">
                  <c:v>6.36</c:v>
                </c:pt>
                <c:pt idx="4">
                  <c:v>5.87</c:v>
                </c:pt>
                <c:pt idx="5">
                  <c:v>3.39</c:v>
                </c:pt>
                <c:pt idx="6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6-4147-8D8C-B275D7BA1E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Lasso</c:v>
                </c:pt>
              </c:strCache>
            </c:strRef>
          </c:tx>
          <c:spPr>
            <a:solidFill>
              <a:srgbClr val="A3F56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Batting_Average</c:v>
                </c:pt>
                <c:pt idx="1">
                  <c:v>Fifties</c:v>
                </c:pt>
                <c:pt idx="2">
                  <c:v>Strike_Rate</c:v>
                </c:pt>
                <c:pt idx="3">
                  <c:v>Runs</c:v>
                </c:pt>
                <c:pt idx="4">
                  <c:v>Hundreds</c:v>
                </c:pt>
                <c:pt idx="5">
                  <c:v>Wickets</c:v>
                </c:pt>
                <c:pt idx="6">
                  <c:v>Matches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10.039999999999999</c:v>
                </c:pt>
                <c:pt idx="1">
                  <c:v>7.31</c:v>
                </c:pt>
                <c:pt idx="2">
                  <c:v>6.5</c:v>
                </c:pt>
                <c:pt idx="3">
                  <c:v>6.3</c:v>
                </c:pt>
                <c:pt idx="4">
                  <c:v>5.81</c:v>
                </c:pt>
                <c:pt idx="5">
                  <c:v>3.31</c:v>
                </c:pt>
                <c:pt idx="6">
                  <c:v>2.0299999999999998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D6-4147-8D8C-B275D7BA1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9B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2633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9B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BA9B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22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 Prediction · Ridge &amp; Lasso Regression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· B.TECH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Performance Prediction Using Ridge and Lasso Regression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0112" y="3063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Jhansi Priya  ·  2520090205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Laxmi Lahari  ·  </a:t>
            </a:r>
            <a:r>
              <a:rPr lang="en-US" sz="1600" dirty="0" smtClean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2520090206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 smtClean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BATCH:5</a:t>
            </a:r>
            <a:endParaRPr lang="en-US" sz="1600" dirty="0" smtClean="0">
              <a:solidFill>
                <a:srgbClr val="F1F5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548640"/>
            <a:ext cx="2743200" cy="3749040"/>
          </a:xfrm>
          <a:prstGeom prst="roundRect">
            <a:avLst>
              <a:gd name="adj" fmla="val 266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731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9509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Y. Lakshmi Prasanna, Assistant Professor, CSIT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Information Technology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523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(Koneru Lakshmaiah Education Foundation)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419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6393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3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048"/>
            <a:ext cx="152400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Introduction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widely used in sports analytics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performance, aids team selection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stats feed the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Cricket: batting and bowling statistics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(regression)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Performance Score, 0 to 100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needed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opinion can be subjective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gives an objective second view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keeps models stable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538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Problem Statement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judged by opinion and raw averages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objective 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87452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overlap (runs, 50s, 100s)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on small samples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stats matter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2331720"/>
          </a:xfrm>
          <a:prstGeom prst="roundRect">
            <a:avLst>
              <a:gd name="adj" fmla="val 313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874520"/>
            <a:ext cx="222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selectors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analysts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and teams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reliably predict a player's performance score from historical statistics?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9215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Motivation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71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sports interest with core ML ideas: regularization and the bias-variance trade-off.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77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quick, objective ways to compare players and support selection.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747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and research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is growing; regularized regression is a standard, explainable baseline.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Objectives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player's Performance Score with Ridge and Lasso Regression and compare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scale the player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9464" y="2377440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310896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Ridge (L2) and Lasso (L1) models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81728" y="2377440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10896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MAE, MSE, RMSE and R²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93992" y="2377440"/>
            <a:ext cx="1883664" cy="2011680"/>
          </a:xfrm>
          <a:prstGeom prst="roundRect">
            <a:avLst>
              <a:gd name="adj" fmla="val 388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76872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3108960"/>
            <a:ext cx="1517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 app for live predictions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15253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EXISTING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Existing System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approach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 and expert judgement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career averages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comparison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basic statistics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linear regression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and neural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inconsistent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regression is unstable with correlated stats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are hard to explain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PROPOSED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Proposed System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opinion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1623060"/>
            <a:ext cx="548640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06240" y="128016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280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Performance Score prediction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03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20440" y="2446020"/>
            <a:ext cx="548640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210312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2103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shrinks coefficients for stability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Overfitting, weak 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20440" y="3268980"/>
            <a:ext cx="548640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06240" y="292608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926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can shrink weak features to zero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749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users to try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20440" y="4091940"/>
            <a:ext cx="548640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06240" y="374904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37490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form with instant predictions from both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249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System Architecture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  (train_model.py)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99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PREDICTION  (app.py)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players, 7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7752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split, StandardScaler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9744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and Lasso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48856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0296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0296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files + metrics.json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form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input page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87752" y="3246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9192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79192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7 inputs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18304" y="3246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9744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both models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48856" y="32461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0296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0296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predicted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04288" y="2011680"/>
            <a:ext cx="283464" cy="0"/>
          </a:xfrm>
          <a:prstGeom prst="line">
            <a:avLst/>
          </a:prstGeom>
          <a:noFill/>
          <a:ln w="22225">
            <a:solidFill>
              <a:srgbClr val="74B9F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304288" y="3749040"/>
            <a:ext cx="283464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434840" y="2011680"/>
            <a:ext cx="283464" cy="0"/>
          </a:xfrm>
          <a:prstGeom prst="line">
            <a:avLst/>
          </a:prstGeom>
          <a:noFill/>
          <a:ln w="22225">
            <a:solidFill>
              <a:srgbClr val="74B9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34840" y="3749040"/>
            <a:ext cx="283464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65392" y="2011680"/>
            <a:ext cx="283464" cy="0"/>
          </a:xfrm>
          <a:prstGeom prst="line">
            <a:avLst/>
          </a:prstGeom>
          <a:noFill/>
          <a:ln w="22225">
            <a:solidFill>
              <a:srgbClr val="74B9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65392" y="3749040"/>
            <a:ext cx="283464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330952" y="2514600"/>
            <a:ext cx="1060704" cy="731520"/>
          </a:xfrm>
          <a:prstGeom prst="line">
            <a:avLst/>
          </a:prstGeom>
          <a:noFill/>
          <a:ln w="22225">
            <a:solidFill>
              <a:srgbClr val="FFB86B"/>
            </a:solidFill>
            <a:prstDash val="solid"/>
            <a:tailEnd type="triangle"/>
          </a:ln>
        </p:spPr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Methodology / Workflow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players, 8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04288" y="203454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87752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46304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2491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check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or duplicate 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03454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55464" y="146304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55464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55464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65392" y="203454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48856" y="13258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46304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86016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86016" y="2240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7 features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15468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931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α=1, Lasso α=0.1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04288" y="37261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87752" y="30175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24912" y="315468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2491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724912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724912" y="3931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R²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7261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718304" y="30175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55464" y="3154680"/>
            <a:ext cx="347472" cy="347472"/>
          </a:xfrm>
          <a:prstGeom prst="ellipse">
            <a:avLst/>
          </a:prstGeom>
          <a:solidFill>
            <a:srgbClr val="A3F56B"/>
          </a:solidFill>
          <a:ln w="12700">
            <a:solidFill>
              <a:srgbClr val="A3F5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55464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D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855464" y="3611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855464" y="3931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serves predictions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8856" y="30175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86016" y="301752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Performance Score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65392" y="37261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Technology Stack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Colab, VS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templates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libraries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storage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(.pkl files)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metrics.json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73552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Sans, Space Grotesk fonts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9904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2784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hardware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file, no database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laptop, no GPU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3048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SYSTEM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System Modules / Components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player_performance CSV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2801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14356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module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8745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and Lasso, train_model.py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store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.pkl + metrics.json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73552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module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route, input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9904" y="2880360"/>
            <a:ext cx="2587752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2784" y="303580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and reporting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47472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style.css, metric cards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Implementation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0D1524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("scaler", StandardScaler()),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("regressor", Ridge(alpha=1.0)),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joblib.dump(pipe, "models/ridge_model.pkl")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3F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ridge_model.predict(player_df)[0]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40680" y="1280160"/>
            <a:ext cx="3246120" cy="694944"/>
          </a:xfrm>
          <a:prstGeom prst="roundRect">
            <a:avLst>
              <a:gd name="adj" fmla="val 105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28016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scaler + model pipelines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40680" y="2084832"/>
            <a:ext cx="3246120" cy="694944"/>
          </a:xfrm>
          <a:prstGeom prst="roundRect">
            <a:avLst>
              <a:gd name="adj" fmla="val 105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208483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.pkl and metrics.json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2889504"/>
            <a:ext cx="3246120" cy="694944"/>
          </a:xfrm>
          <a:prstGeom prst="roundRect">
            <a:avLst>
              <a:gd name="adj" fmla="val 105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288950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Serve: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loads models at startup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0680" y="3694176"/>
            <a:ext cx="3246120" cy="694944"/>
          </a:xfrm>
          <a:prstGeom prst="roundRect">
            <a:avLst>
              <a:gd name="adj" fmla="val 105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369417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form, validate, show both scores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Dataset / Input Data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274320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/ 40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80160"/>
          <a:ext cx="4663440" cy="27157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Batting_Average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Strike_Rate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dataset. Player_ID dropped as an identifier; all features are numeric, so no encoding was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ALGORITHM /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Algorithm / Model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00500" cy="2148840"/>
          </a:xfrm>
          <a:prstGeom prst="roundRect">
            <a:avLst>
              <a:gd name="adj" fmla="val 340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(L2)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34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α · Σ w²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coefficients, keeps every feature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with correlated features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1.0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2148840"/>
          </a:xfrm>
          <a:prstGeom prst="roundRect">
            <a:avLst>
              <a:gd name="adj" fmla="val 340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Regression (L1)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1874520"/>
            <a:ext cx="36347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α · Σ |w|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shrink weak coefficients to zero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selection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0.1, max_iter = 10,000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input 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04288" y="40690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87752" y="3703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B2740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87752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40690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3703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Lasso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65392" y="4069080"/>
            <a:ext cx="265176" cy="0"/>
          </a:xfrm>
          <a:prstGeom prst="line">
            <a:avLst/>
          </a:prstGeom>
          <a:noFill/>
          <a:ln w="22225">
            <a:solidFill>
              <a:srgbClr val="A3F5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48856" y="3703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17202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Results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(Lasso)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3258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828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 (Lasso)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4251960" cy="15544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3F5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1148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set, 40 players. Linear regression is the unregularized baseline. Precision/recall/F1 are classification metrics, so they do not apply here.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937760" y="1188720"/>
          <a:ext cx="3749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SCREENSHOTS /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Screenshots / Demo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pic>
        <p:nvPicPr>
          <p:cNvPr id="5" name="Image 0" descr="crops/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2404872" cy="22037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54787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model metrics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73552" y="123444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pic>
        <p:nvPicPr>
          <p:cNvPr id="8" name="Image 1" descr="crops/inp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25880"/>
            <a:ext cx="2404872" cy="22037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73552" y="354787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player statistics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89904" y="123444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pic>
        <p:nvPicPr>
          <p:cNvPr id="11" name="Image 2" descr="crops/outpu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325880"/>
            <a:ext cx="2404872" cy="22037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89904" y="354787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scores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the form POSTs to the Flask route, which validates the inputs and runs both models. Sample input: 60 matches, 3000 runs, average 40, strike rate 140, 20 fifties, 8 hundreds, 30 wickets gives Ridge 56.35 and Lasso 56.32.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ADVANTAGES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Advantages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0.94 on unseen test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187452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show which stats matter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358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7472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limits overfitting with correlated stats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28803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9180" y="30358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9180" y="3474720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gives instant predictions from both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APPLICATIONS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Applications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selection and squad planning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scouting and comparison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focus for players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selectors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analysts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 and clubs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areas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and basketball analytics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regression in ML courses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LIMITATIONS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Limitations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00500" cy="3108960"/>
          </a:xfrm>
          <a:prstGeom prst="roundRect">
            <a:avLst>
              <a:gd name="adj" fmla="val 235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6347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only 200 players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stats and wickets only: no economy rate or catches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definition is fixed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280160"/>
            <a:ext cx="4000500" cy="3108960"/>
          </a:xfrm>
          <a:prstGeom prst="roundRect">
            <a:avLst>
              <a:gd name="adj" fmla="val 2353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435608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1874520"/>
            <a:ext cx="36347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α, no cross-validation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80/20 split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kept all 7 features at α = 0.1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database or hosting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-965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FUTURE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Future Scope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match data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α with RidgeCV / LassoCV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Elastic Net and tree models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4B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economy, catches, form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charts in the UI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3108960"/>
          </a:xfrm>
          <a:prstGeom prst="roundRect">
            <a:avLst>
              <a:gd name="adj" fmla="val 2824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35608"/>
            <a:ext cx="222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1874520"/>
            <a:ext cx="222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 the cloud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database and login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D8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sports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3F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Conclusion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87752" cy="1234440"/>
          </a:xfrm>
          <a:prstGeom prst="roundRect">
            <a:avLst>
              <a:gd name="adj" fmla="val 59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(Lasso, test set)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280160"/>
            <a:ext cx="2587752" cy="1234440"/>
          </a:xfrm>
          <a:prstGeom prst="roundRect">
            <a:avLst>
              <a:gd name="adj" fmla="val 59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37160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3.3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0116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on a 0 to 100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280160"/>
            <a:ext cx="2587752" cy="1234440"/>
          </a:xfrm>
          <a:prstGeom prst="roundRect">
            <a:avLst>
              <a:gd name="adj" fmla="val 5926"/>
            </a:avLst>
          </a:prstGeom>
          <a:solidFill>
            <a:srgbClr val="111A2A"/>
          </a:solidFill>
          <a:ln w="12700">
            <a:solidFill>
              <a:srgbClr val="263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9904" y="1371600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F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0116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kept by both models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pipeline: data, Ridge and Lasso models, and a Flask web app</a:t>
            </a:r>
            <a:endParaRPr lang="en-US" sz="15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perform almost identically; Lasso is marginally ahead</a:t>
            </a:r>
            <a:endParaRPr lang="en-US" sz="15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average was the strongest driver of the score</a:t>
            </a:r>
            <a:endParaRPr lang="en-US" sz="15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an explainable, easy-to-use player performance predictor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BA9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1267</Words>
  <Application>Microsoft Office PowerPoint</Application>
  <PresentationFormat>On-screen Show (16:9)</PresentationFormat>
  <Paragraphs>378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Player Performance Prediction Using Ridge and Lasso Regression</dc:title>
  <dc:subject>PptxGenJS Presentation</dc:subject>
  <dc:creator>A. Jhansi Priya, K. Laxmi Lahari</dc:creator>
  <cp:lastModifiedBy>DELL</cp:lastModifiedBy>
  <cp:revision>3</cp:revision>
  <dcterms:created xsi:type="dcterms:W3CDTF">2026-10-13T15:28:10Z</dcterms:created>
  <dcterms:modified xsi:type="dcterms:W3CDTF">2026-10-14T05:21:43Z</dcterms:modified>
</cp:coreProperties>
</file>